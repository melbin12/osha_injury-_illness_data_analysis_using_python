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57" r:id="rId3"/>
    <p:sldId id="258" r:id="rId4"/>
    <p:sldId id="259" r:id="rId5"/>
    <p:sldId id="261" r:id="rId6"/>
    <p:sldId id="263" r:id="rId7"/>
    <p:sldId id="265" r:id="rId8"/>
    <p:sldId id="266" r:id="rId9"/>
    <p:sldId id="269" r:id="rId10"/>
    <p:sldId id="270"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43"/>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4EF54E-F7D0-4A32-8AC2-B0E2F6F48BAD}" type="datetimeFigureOut">
              <a:rPr lang="en-US" smtClean="0"/>
              <a:t>12/15/2025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200D3B-FF25-4ECE-99E5-0CE3646A9656}" type="slidenum">
              <a:rPr lang="en-US" smtClean="0"/>
              <a:t>‹#›</a:t>
            </a:fld>
            <a:endParaRPr lang="en-US"/>
          </a:p>
        </p:txBody>
      </p:sp>
    </p:spTree>
    <p:extLst>
      <p:ext uri="{BB962C8B-B14F-4D97-AF65-F5344CB8AC3E}">
        <p14:creationId xmlns:p14="http://schemas.microsoft.com/office/powerpoint/2010/main" val="357879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focuses on Task 2 of the DAS7000 assessment, which involves data </a:t>
            </a:r>
            <a:r>
              <a:rPr lang="en-US" dirty="0" err="1"/>
              <a:t>visualisation</a:t>
            </a:r>
            <a:r>
              <a:rPr lang="en-US" dirty="0"/>
              <a:t> and storytelling using Tableau. The project analyses U.S. railroad operations data and presents insights through a structured set of dashboards designed to support business and policy-level decision-making.</a:t>
            </a:r>
          </a:p>
        </p:txBody>
      </p:sp>
      <p:sp>
        <p:nvSpPr>
          <p:cNvPr id="4" name="Slide Number Placeholder 3"/>
          <p:cNvSpPr>
            <a:spLocks noGrp="1"/>
          </p:cNvSpPr>
          <p:nvPr>
            <p:ph type="sldNum" sz="quarter" idx="5"/>
          </p:nvPr>
        </p:nvSpPr>
        <p:spPr/>
        <p:txBody>
          <a:bodyPr/>
          <a:lstStyle/>
          <a:p>
            <a:fld id="{56200D3B-FF25-4ECE-99E5-0CE3646A9656}" type="slidenum">
              <a:rPr lang="en-US" smtClean="0"/>
              <a:t>1</a:t>
            </a:fld>
            <a:endParaRPr lang="en-US"/>
          </a:p>
        </p:txBody>
      </p:sp>
    </p:spTree>
    <p:extLst>
      <p:ext uri="{BB962C8B-B14F-4D97-AF65-F5344CB8AC3E}">
        <p14:creationId xmlns:p14="http://schemas.microsoft.com/office/powerpoint/2010/main" val="2510764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of this task was to convert a large, complex dataset into meaningful business insights. This involved cleaning and transforming the data, building four interactive dashboards in Tableau, and developing a narrative-driven Tableau Story. The final outputs are aimed at stakeholders such as transportation planners, operational managers, and corporate strategists.</a:t>
            </a:r>
          </a:p>
        </p:txBody>
      </p:sp>
      <p:sp>
        <p:nvSpPr>
          <p:cNvPr id="4" name="Slide Number Placeholder 3"/>
          <p:cNvSpPr>
            <a:spLocks noGrp="1"/>
          </p:cNvSpPr>
          <p:nvPr>
            <p:ph type="sldNum" sz="quarter" idx="5"/>
          </p:nvPr>
        </p:nvSpPr>
        <p:spPr/>
        <p:txBody>
          <a:bodyPr/>
          <a:lstStyle/>
          <a:p>
            <a:fld id="{56200D3B-FF25-4ECE-99E5-0CE3646A9656}" type="slidenum">
              <a:rPr lang="en-US" smtClean="0"/>
              <a:t>2</a:t>
            </a:fld>
            <a:endParaRPr lang="en-US"/>
          </a:p>
        </p:txBody>
      </p:sp>
    </p:spTree>
    <p:extLst>
      <p:ext uri="{BB962C8B-B14F-4D97-AF65-F5344CB8AC3E}">
        <p14:creationId xmlns:p14="http://schemas.microsoft.com/office/powerpoint/2010/main" val="2019385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sourced from Data.gov and contains over 390,000 records related to railroad operations across the United States. It includes operational metrics such as freight and passenger train miles, employee man-hours, geographic information, railroad class, and parent company ownership. Due to the size and structure of the data, extensive cleaning and transformation were required before analysis.</a:t>
            </a:r>
          </a:p>
        </p:txBody>
      </p:sp>
      <p:sp>
        <p:nvSpPr>
          <p:cNvPr id="4" name="Slide Number Placeholder 3"/>
          <p:cNvSpPr>
            <a:spLocks noGrp="1"/>
          </p:cNvSpPr>
          <p:nvPr>
            <p:ph type="sldNum" sz="quarter" idx="5"/>
          </p:nvPr>
        </p:nvSpPr>
        <p:spPr/>
        <p:txBody>
          <a:bodyPr/>
          <a:lstStyle/>
          <a:p>
            <a:fld id="{56200D3B-FF25-4ECE-99E5-0CE3646A9656}" type="slidenum">
              <a:rPr lang="en-US" smtClean="0"/>
              <a:t>3</a:t>
            </a:fld>
            <a:endParaRPr lang="en-US"/>
          </a:p>
        </p:txBody>
      </p:sp>
    </p:spTree>
    <p:extLst>
      <p:ext uri="{BB962C8B-B14F-4D97-AF65-F5344CB8AC3E}">
        <p14:creationId xmlns:p14="http://schemas.microsoft.com/office/powerpoint/2010/main" val="18060639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preprocessing steps were applied to ensure data quality. Missing values were handled using median or mode imputation, while invalid or empty rows were removed. Outliers were identified and treated using the IQR method to prevent skewed analysis. Numeric fields were converted and categorical variables </a:t>
            </a:r>
            <a:r>
              <a:rPr lang="en-US" dirty="0" err="1"/>
              <a:t>standardised</a:t>
            </a:r>
            <a:r>
              <a:rPr lang="en-US" dirty="0"/>
              <a:t> before exporting the cleaned dataset into Tableau.</a:t>
            </a:r>
          </a:p>
        </p:txBody>
      </p:sp>
      <p:sp>
        <p:nvSpPr>
          <p:cNvPr id="4" name="Slide Number Placeholder 3"/>
          <p:cNvSpPr>
            <a:spLocks noGrp="1"/>
          </p:cNvSpPr>
          <p:nvPr>
            <p:ph type="sldNum" sz="quarter" idx="5"/>
          </p:nvPr>
        </p:nvSpPr>
        <p:spPr/>
        <p:txBody>
          <a:bodyPr/>
          <a:lstStyle/>
          <a:p>
            <a:fld id="{56200D3B-FF25-4ECE-99E5-0CE3646A9656}" type="slidenum">
              <a:rPr lang="en-US" smtClean="0"/>
              <a:t>4</a:t>
            </a:fld>
            <a:endParaRPr lang="en-US"/>
          </a:p>
        </p:txBody>
      </p:sp>
    </p:spTree>
    <p:extLst>
      <p:ext uri="{BB962C8B-B14F-4D97-AF65-F5344CB8AC3E}">
        <p14:creationId xmlns:p14="http://schemas.microsoft.com/office/powerpoint/2010/main" val="4113256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Executive Overview Dashboard provides a high-level summary of national railroad operations. KPI cards highlight total miles, passenger miles, employee man-hours, and the number of railroads. Yearly trend analysis shows changes over time, while class distribution comparisons reveal which railroad classes dominate the industry. A reporting completeness indicator helps establish data reliability and context for further analysis.</a:t>
            </a:r>
          </a:p>
        </p:txBody>
      </p:sp>
      <p:sp>
        <p:nvSpPr>
          <p:cNvPr id="4" name="Slide Number Placeholder 3"/>
          <p:cNvSpPr>
            <a:spLocks noGrp="1"/>
          </p:cNvSpPr>
          <p:nvPr>
            <p:ph type="sldNum" sz="quarter" idx="5"/>
          </p:nvPr>
        </p:nvSpPr>
        <p:spPr/>
        <p:txBody>
          <a:bodyPr/>
          <a:lstStyle/>
          <a:p>
            <a:fld id="{56200D3B-FF25-4ECE-99E5-0CE3646A9656}" type="slidenum">
              <a:rPr lang="en-US" smtClean="0"/>
              <a:t>5</a:t>
            </a:fld>
            <a:endParaRPr lang="en-US"/>
          </a:p>
        </p:txBody>
      </p:sp>
    </p:spTree>
    <p:extLst>
      <p:ext uri="{BB962C8B-B14F-4D97-AF65-F5344CB8AC3E}">
        <p14:creationId xmlns:p14="http://schemas.microsoft.com/office/powerpoint/2010/main" val="13078889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dashboard focuses on operational efficiency and workforce exposure. It highlights labor-intensive railroads, differentiates between freight-heavy and passenger-heavy operators, and shows parent company dominance across the network. Seasonal trends are also included, supporting operational planning and resource </a:t>
            </a:r>
            <a:r>
              <a:rPr lang="en-US" dirty="0" err="1"/>
              <a:t>optimisation</a:t>
            </a:r>
            <a:r>
              <a:rPr lang="en-US" dirty="0"/>
              <a:t> throughout the year.</a:t>
            </a:r>
          </a:p>
        </p:txBody>
      </p:sp>
      <p:sp>
        <p:nvSpPr>
          <p:cNvPr id="4" name="Slide Number Placeholder 3"/>
          <p:cNvSpPr>
            <a:spLocks noGrp="1"/>
          </p:cNvSpPr>
          <p:nvPr>
            <p:ph type="sldNum" sz="quarter" idx="5"/>
          </p:nvPr>
        </p:nvSpPr>
        <p:spPr/>
        <p:txBody>
          <a:bodyPr/>
          <a:lstStyle/>
          <a:p>
            <a:fld id="{56200D3B-FF25-4ECE-99E5-0CE3646A9656}" type="slidenum">
              <a:rPr lang="en-US" smtClean="0"/>
              <a:t>6</a:t>
            </a:fld>
            <a:endParaRPr lang="en-US"/>
          </a:p>
        </p:txBody>
      </p:sp>
    </p:spTree>
    <p:extLst>
      <p:ext uri="{BB962C8B-B14F-4D97-AF65-F5344CB8AC3E}">
        <p14:creationId xmlns:p14="http://schemas.microsoft.com/office/powerpoint/2010/main" val="1815698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Geographic Operations Dashboard analyses railroad activity at a state level. It identifies high-activity hotspots such as Texas, Illinois, California, and Pennsylvania. The dashboard supports infrastructure investment and funding decisions by showing operational patterns, railroad types by state, and year-over-year trends that indicate growth or decline in activity.</a:t>
            </a:r>
          </a:p>
        </p:txBody>
      </p:sp>
      <p:sp>
        <p:nvSpPr>
          <p:cNvPr id="4" name="Slide Number Placeholder 3"/>
          <p:cNvSpPr>
            <a:spLocks noGrp="1"/>
          </p:cNvSpPr>
          <p:nvPr>
            <p:ph type="sldNum" sz="quarter" idx="5"/>
          </p:nvPr>
        </p:nvSpPr>
        <p:spPr/>
        <p:txBody>
          <a:bodyPr/>
          <a:lstStyle/>
          <a:p>
            <a:fld id="{56200D3B-FF25-4ECE-99E5-0CE3646A9656}" type="slidenum">
              <a:rPr lang="en-US" smtClean="0"/>
              <a:t>7</a:t>
            </a:fld>
            <a:endParaRPr lang="en-US"/>
          </a:p>
        </p:txBody>
      </p:sp>
    </p:spTree>
    <p:extLst>
      <p:ext uri="{BB962C8B-B14F-4D97-AF65-F5344CB8AC3E}">
        <p14:creationId xmlns:p14="http://schemas.microsoft.com/office/powerpoint/2010/main" val="33695052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dashboard explores the corporate structure behind U.S. railroad operations. It highlights which parent companies dominate operational mileage, identifies subsidiaries with high </a:t>
            </a:r>
            <a:r>
              <a:rPr lang="en-US" dirty="0" err="1"/>
              <a:t>labour</a:t>
            </a:r>
            <a:r>
              <a:rPr lang="en-US" dirty="0"/>
              <a:t> requirements, and compares railroad classes at a corporate level. These insights support benchmarking, investment decisions, and regulatory oversight.</a:t>
            </a:r>
          </a:p>
        </p:txBody>
      </p:sp>
      <p:sp>
        <p:nvSpPr>
          <p:cNvPr id="4" name="Slide Number Placeholder 3"/>
          <p:cNvSpPr>
            <a:spLocks noGrp="1"/>
          </p:cNvSpPr>
          <p:nvPr>
            <p:ph type="sldNum" sz="quarter" idx="5"/>
          </p:nvPr>
        </p:nvSpPr>
        <p:spPr/>
        <p:txBody>
          <a:bodyPr/>
          <a:lstStyle/>
          <a:p>
            <a:fld id="{56200D3B-FF25-4ECE-99E5-0CE3646A9656}" type="slidenum">
              <a:rPr lang="en-US" smtClean="0"/>
              <a:t>8</a:t>
            </a:fld>
            <a:endParaRPr lang="en-US"/>
          </a:p>
        </p:txBody>
      </p:sp>
    </p:spTree>
    <p:extLst>
      <p:ext uri="{BB962C8B-B14F-4D97-AF65-F5344CB8AC3E}">
        <p14:creationId xmlns:p14="http://schemas.microsoft.com/office/powerpoint/2010/main" val="4896356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Tableau Story connects all dashboards into a single narrative. It guides users through insights in a logical order, making complex analysis accessible to non-technical stakeholders. By structuring insights sequentially, the story ensures findings are actionable and aligned with business objectives.</a:t>
            </a:r>
          </a:p>
        </p:txBody>
      </p:sp>
      <p:sp>
        <p:nvSpPr>
          <p:cNvPr id="4" name="Slide Number Placeholder 3"/>
          <p:cNvSpPr>
            <a:spLocks noGrp="1"/>
          </p:cNvSpPr>
          <p:nvPr>
            <p:ph type="sldNum" sz="quarter" idx="5"/>
          </p:nvPr>
        </p:nvSpPr>
        <p:spPr/>
        <p:txBody>
          <a:bodyPr/>
          <a:lstStyle/>
          <a:p>
            <a:fld id="{56200D3B-FF25-4ECE-99E5-0CE3646A9656}" type="slidenum">
              <a:rPr lang="en-US" smtClean="0"/>
              <a:t>9</a:t>
            </a:fld>
            <a:endParaRPr lang="en-US"/>
          </a:p>
        </p:txBody>
      </p:sp>
    </p:spTree>
    <p:extLst>
      <p:ext uri="{BB962C8B-B14F-4D97-AF65-F5344CB8AC3E}">
        <p14:creationId xmlns:p14="http://schemas.microsoft.com/office/powerpoint/2010/main" val="25387457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Tableau dashboards provide insights across national, operational, geographic, and corporate levels. They help identify high-activity states, corporate dominance, </a:t>
            </a:r>
            <a:r>
              <a:rPr lang="en-US" dirty="0" err="1"/>
              <a:t>labour-intensive</a:t>
            </a:r>
            <a:r>
              <a:rPr lang="en-US" dirty="0"/>
              <a:t> railroads, seasonal patterns, and data reliability. Overall, the solution supports strategic planning, safety management, and infrastructure decision-making in the U.S. railroad industry.</a:t>
            </a:r>
          </a:p>
        </p:txBody>
      </p:sp>
      <p:sp>
        <p:nvSpPr>
          <p:cNvPr id="4" name="Slide Number Placeholder 3"/>
          <p:cNvSpPr>
            <a:spLocks noGrp="1"/>
          </p:cNvSpPr>
          <p:nvPr>
            <p:ph type="sldNum" sz="quarter" idx="5"/>
          </p:nvPr>
        </p:nvSpPr>
        <p:spPr/>
        <p:txBody>
          <a:bodyPr/>
          <a:lstStyle/>
          <a:p>
            <a:fld id="{56200D3B-FF25-4ECE-99E5-0CE3646A9656}" type="slidenum">
              <a:rPr lang="en-US" smtClean="0"/>
              <a:t>10</a:t>
            </a:fld>
            <a:endParaRPr lang="en-US"/>
          </a:p>
        </p:txBody>
      </p:sp>
    </p:spTree>
    <p:extLst>
      <p:ext uri="{BB962C8B-B14F-4D97-AF65-F5344CB8AC3E}">
        <p14:creationId xmlns:p14="http://schemas.microsoft.com/office/powerpoint/2010/main" val="2286815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C6C5436-FFCB-45E5-B7A1-12D3D7FCB2B0}"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97A836-D1BA-49D6-8216-EA5119F87D9E}" type="slidenum">
              <a:rPr lang="en-US" smtClean="0"/>
              <a:t>‹#›</a:t>
            </a:fld>
            <a:endParaRPr lang="en-US"/>
          </a:p>
        </p:txBody>
      </p:sp>
    </p:spTree>
    <p:extLst>
      <p:ext uri="{BB962C8B-B14F-4D97-AF65-F5344CB8AC3E}">
        <p14:creationId xmlns:p14="http://schemas.microsoft.com/office/powerpoint/2010/main" val="3717419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DC6C5436-FFCB-45E5-B7A1-12D3D7FCB2B0}"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97A836-D1BA-49D6-8216-EA5119F87D9E}" type="slidenum">
              <a:rPr lang="en-US" smtClean="0"/>
              <a:t>‹#›</a:t>
            </a:fld>
            <a:endParaRPr lang="en-US"/>
          </a:p>
        </p:txBody>
      </p:sp>
    </p:spTree>
    <p:extLst>
      <p:ext uri="{BB962C8B-B14F-4D97-AF65-F5344CB8AC3E}">
        <p14:creationId xmlns:p14="http://schemas.microsoft.com/office/powerpoint/2010/main" val="2821996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6C5436-FFCB-45E5-B7A1-12D3D7FCB2B0}"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97A836-D1BA-49D6-8216-EA5119F87D9E}" type="slidenum">
              <a:rPr lang="en-US" smtClean="0"/>
              <a:t>‹#›</a:t>
            </a:fld>
            <a:endParaRPr lang="en-US"/>
          </a:p>
        </p:txBody>
      </p:sp>
    </p:spTree>
    <p:extLst>
      <p:ext uri="{BB962C8B-B14F-4D97-AF65-F5344CB8AC3E}">
        <p14:creationId xmlns:p14="http://schemas.microsoft.com/office/powerpoint/2010/main" val="3408331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6C5436-FFCB-45E5-B7A1-12D3D7FCB2B0}"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97A836-D1BA-49D6-8216-EA5119F87D9E}" type="slidenum">
              <a:rPr lang="en-US" smtClean="0"/>
              <a:t>‹#›</a:t>
            </a:fld>
            <a:endParaRPr lang="en-US"/>
          </a:p>
        </p:txBody>
      </p:sp>
    </p:spTree>
    <p:extLst>
      <p:ext uri="{BB962C8B-B14F-4D97-AF65-F5344CB8AC3E}">
        <p14:creationId xmlns:p14="http://schemas.microsoft.com/office/powerpoint/2010/main" val="1293234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6C5436-FFCB-45E5-B7A1-12D3D7FCB2B0}"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97A836-D1BA-49D6-8216-EA5119F87D9E}" type="slidenum">
              <a:rPr lang="en-US" smtClean="0"/>
              <a:t>‹#›</a:t>
            </a:fld>
            <a:endParaRPr lang="en-US"/>
          </a:p>
        </p:txBody>
      </p:sp>
    </p:spTree>
    <p:extLst>
      <p:ext uri="{BB962C8B-B14F-4D97-AF65-F5344CB8AC3E}">
        <p14:creationId xmlns:p14="http://schemas.microsoft.com/office/powerpoint/2010/main" val="2898102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DC6C5436-FFCB-45E5-B7A1-12D3D7FCB2B0}" type="datetimeFigureOut">
              <a:rPr lang="en-US" smtClean="0"/>
              <a:t>12/15/2025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AF97A836-D1BA-49D6-8216-EA5119F87D9E}" type="slidenum">
              <a:rPr lang="en-US" smtClean="0"/>
              <a:t>‹#›</a:t>
            </a:fld>
            <a:endParaRPr lang="en-US"/>
          </a:p>
        </p:txBody>
      </p:sp>
    </p:spTree>
    <p:extLst>
      <p:ext uri="{BB962C8B-B14F-4D97-AF65-F5344CB8AC3E}">
        <p14:creationId xmlns:p14="http://schemas.microsoft.com/office/powerpoint/2010/main" val="2688616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C6C5436-FFCB-45E5-B7A1-12D3D7FCB2B0}" type="datetimeFigureOut">
              <a:rPr lang="en-US" smtClean="0"/>
              <a:t>12/15/2025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AF97A836-D1BA-49D6-8216-EA5119F87D9E}" type="slidenum">
              <a:rPr lang="en-US" smtClean="0"/>
              <a:t>‹#›</a:t>
            </a:fld>
            <a:endParaRPr lang="en-US"/>
          </a:p>
        </p:txBody>
      </p:sp>
    </p:spTree>
    <p:extLst>
      <p:ext uri="{BB962C8B-B14F-4D97-AF65-F5344CB8AC3E}">
        <p14:creationId xmlns:p14="http://schemas.microsoft.com/office/powerpoint/2010/main" val="4144856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DC6C5436-FFCB-45E5-B7A1-12D3D7FCB2B0}" type="datetimeFigureOut">
              <a:rPr lang="en-US" smtClean="0"/>
              <a:t>12/15/2025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AF97A836-D1BA-49D6-8216-EA5119F87D9E}" type="slidenum">
              <a:rPr lang="en-US" smtClean="0"/>
              <a:t>‹#›</a:t>
            </a:fld>
            <a:endParaRPr lang="en-US"/>
          </a:p>
        </p:txBody>
      </p:sp>
    </p:spTree>
    <p:extLst>
      <p:ext uri="{BB962C8B-B14F-4D97-AF65-F5344CB8AC3E}">
        <p14:creationId xmlns:p14="http://schemas.microsoft.com/office/powerpoint/2010/main" val="2219880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6C5436-FFCB-45E5-B7A1-12D3D7FCB2B0}"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97A836-D1BA-49D6-8216-EA5119F87D9E}" type="slidenum">
              <a:rPr lang="en-US" smtClean="0"/>
              <a:t>‹#›</a:t>
            </a:fld>
            <a:endParaRPr lang="en-US"/>
          </a:p>
        </p:txBody>
      </p:sp>
    </p:spTree>
    <p:extLst>
      <p:ext uri="{BB962C8B-B14F-4D97-AF65-F5344CB8AC3E}">
        <p14:creationId xmlns:p14="http://schemas.microsoft.com/office/powerpoint/2010/main" val="405676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6C5436-FFCB-45E5-B7A1-12D3D7FCB2B0}"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97A836-D1BA-49D6-8216-EA5119F87D9E}" type="slidenum">
              <a:rPr lang="en-US" smtClean="0"/>
              <a:t>‹#›</a:t>
            </a:fld>
            <a:endParaRPr lang="en-US"/>
          </a:p>
        </p:txBody>
      </p:sp>
    </p:spTree>
    <p:extLst>
      <p:ext uri="{BB962C8B-B14F-4D97-AF65-F5344CB8AC3E}">
        <p14:creationId xmlns:p14="http://schemas.microsoft.com/office/powerpoint/2010/main" val="2013650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C6C5436-FFCB-45E5-B7A1-12D3D7FCB2B0}"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97A836-D1BA-49D6-8216-EA5119F87D9E}" type="slidenum">
              <a:rPr lang="en-US" smtClean="0"/>
              <a:t>‹#›</a:t>
            </a:fld>
            <a:endParaRPr lang="en-US"/>
          </a:p>
        </p:txBody>
      </p:sp>
    </p:spTree>
    <p:extLst>
      <p:ext uri="{BB962C8B-B14F-4D97-AF65-F5344CB8AC3E}">
        <p14:creationId xmlns:p14="http://schemas.microsoft.com/office/powerpoint/2010/main" val="33943461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C6C5436-FFCB-45E5-B7A1-12D3D7FCB2B0}"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97A836-D1BA-49D6-8216-EA5119F87D9E}"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4018623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6C5436-FFCB-45E5-B7A1-12D3D7FCB2B0}"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97A836-D1BA-49D6-8216-EA5119F87D9E}" type="slidenum">
              <a:rPr lang="en-US" smtClean="0"/>
              <a:t>‹#›</a:t>
            </a:fld>
            <a:endParaRPr lang="en-US"/>
          </a:p>
        </p:txBody>
      </p:sp>
    </p:spTree>
    <p:extLst>
      <p:ext uri="{BB962C8B-B14F-4D97-AF65-F5344CB8AC3E}">
        <p14:creationId xmlns:p14="http://schemas.microsoft.com/office/powerpoint/2010/main" val="26613467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C6C5436-FFCB-45E5-B7A1-12D3D7FCB2B0}" type="datetimeFigureOut">
              <a:rPr lang="en-US" smtClean="0"/>
              <a:t>12/15/2025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97A836-D1BA-49D6-8216-EA5119F87D9E}" type="slidenum">
              <a:rPr lang="en-US" smtClean="0"/>
              <a:t>‹#›</a:t>
            </a:fld>
            <a:endParaRPr lang="en-US"/>
          </a:p>
        </p:txBody>
      </p:sp>
    </p:spTree>
    <p:extLst>
      <p:ext uri="{BB962C8B-B14F-4D97-AF65-F5344CB8AC3E}">
        <p14:creationId xmlns:p14="http://schemas.microsoft.com/office/powerpoint/2010/main" val="3661784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C6C5436-FFCB-45E5-B7A1-12D3D7FCB2B0}" type="datetimeFigureOut">
              <a:rPr lang="en-US" smtClean="0"/>
              <a:t>12/15/2025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97A836-D1BA-49D6-8216-EA5119F87D9E}" type="slidenum">
              <a:rPr lang="en-US" smtClean="0"/>
              <a:t>‹#›</a:t>
            </a:fld>
            <a:endParaRPr lang="en-US"/>
          </a:p>
        </p:txBody>
      </p:sp>
    </p:spTree>
    <p:extLst>
      <p:ext uri="{BB962C8B-B14F-4D97-AF65-F5344CB8AC3E}">
        <p14:creationId xmlns:p14="http://schemas.microsoft.com/office/powerpoint/2010/main" val="29759471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6C5436-FFCB-45E5-B7A1-12D3D7FCB2B0}"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97A836-D1BA-49D6-8216-EA5119F87D9E}" type="slidenum">
              <a:rPr lang="en-US" smtClean="0"/>
              <a:t>‹#›</a:t>
            </a:fld>
            <a:endParaRPr lang="en-US"/>
          </a:p>
        </p:txBody>
      </p:sp>
    </p:spTree>
    <p:extLst>
      <p:ext uri="{BB962C8B-B14F-4D97-AF65-F5344CB8AC3E}">
        <p14:creationId xmlns:p14="http://schemas.microsoft.com/office/powerpoint/2010/main" val="23523887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6C5436-FFCB-45E5-B7A1-12D3D7FCB2B0}"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97A836-D1BA-49D6-8216-EA5119F87D9E}" type="slidenum">
              <a:rPr lang="en-US" smtClean="0"/>
              <a:t>‹#›</a:t>
            </a:fld>
            <a:endParaRPr lang="en-US"/>
          </a:p>
        </p:txBody>
      </p:sp>
    </p:spTree>
    <p:extLst>
      <p:ext uri="{BB962C8B-B14F-4D97-AF65-F5344CB8AC3E}">
        <p14:creationId xmlns:p14="http://schemas.microsoft.com/office/powerpoint/2010/main" val="2578354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C6C5436-FFCB-45E5-B7A1-12D3D7FCB2B0}" type="datetimeFigureOut">
              <a:rPr lang="en-US" smtClean="0"/>
              <a:t>12/15/2025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F97A836-D1BA-49D6-8216-EA5119F87D9E}" type="slidenum">
              <a:rPr lang="en-US" smtClean="0"/>
              <a:t>‹#›</a:t>
            </a:fld>
            <a:endParaRPr lang="en-US"/>
          </a:p>
        </p:txBody>
      </p:sp>
    </p:spTree>
    <p:extLst>
      <p:ext uri="{BB962C8B-B14F-4D97-AF65-F5344CB8AC3E}">
        <p14:creationId xmlns:p14="http://schemas.microsoft.com/office/powerpoint/2010/main" val="378352376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B1018-9BFE-9E96-FA06-4FF69759C05E}"/>
              </a:ext>
            </a:extLst>
          </p:cNvPr>
          <p:cNvSpPr>
            <a:spLocks noGrp="1"/>
          </p:cNvSpPr>
          <p:nvPr>
            <p:ph type="ctrTitle"/>
          </p:nvPr>
        </p:nvSpPr>
        <p:spPr/>
        <p:txBody>
          <a:bodyPr/>
          <a:lstStyle/>
          <a:p>
            <a:r>
              <a:rPr lang="en-US" sz="4800" dirty="0"/>
              <a:t>Data Visualization and Storytelling Using Tableau Railroad Operations Analytics Dashboard Suite</a:t>
            </a:r>
          </a:p>
        </p:txBody>
      </p:sp>
      <p:sp>
        <p:nvSpPr>
          <p:cNvPr id="3" name="Subtitle 2">
            <a:extLst>
              <a:ext uri="{FF2B5EF4-FFF2-40B4-BE49-F238E27FC236}">
                <a16:creationId xmlns:a16="http://schemas.microsoft.com/office/drawing/2014/main" id="{EDB48851-9A70-E1CD-6EA3-AE137539802D}"/>
              </a:ext>
            </a:extLst>
          </p:cNvPr>
          <p:cNvSpPr>
            <a:spLocks noGrp="1"/>
          </p:cNvSpPr>
          <p:nvPr>
            <p:ph type="subTitle" idx="1"/>
          </p:nvPr>
        </p:nvSpPr>
        <p:spPr/>
        <p:txBody>
          <a:bodyPr/>
          <a:lstStyle/>
          <a:p>
            <a:r>
              <a:rPr lang="en-US" dirty="0"/>
              <a:t>DAS7000 – Data Analytics &amp; </a:t>
            </a:r>
            <a:r>
              <a:rPr lang="en-US" dirty="0" err="1"/>
              <a:t>Visualisation</a:t>
            </a:r>
            <a:endParaRPr lang="en-US" dirty="0"/>
          </a:p>
        </p:txBody>
      </p:sp>
    </p:spTree>
    <p:extLst>
      <p:ext uri="{BB962C8B-B14F-4D97-AF65-F5344CB8AC3E}">
        <p14:creationId xmlns:p14="http://schemas.microsoft.com/office/powerpoint/2010/main" val="908399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1D0D9-25C0-9AF5-66B1-D948A878CC2C}"/>
              </a:ext>
            </a:extLst>
          </p:cNvPr>
          <p:cNvSpPr>
            <a:spLocks noGrp="1"/>
          </p:cNvSpPr>
          <p:nvPr>
            <p:ph type="title"/>
          </p:nvPr>
        </p:nvSpPr>
        <p:spPr/>
        <p:txBody>
          <a:bodyPr/>
          <a:lstStyle/>
          <a:p>
            <a:r>
              <a:rPr lang="en-US" dirty="0"/>
              <a:t>Task Overview</a:t>
            </a:r>
          </a:p>
        </p:txBody>
      </p:sp>
      <p:sp>
        <p:nvSpPr>
          <p:cNvPr id="3" name="Content Placeholder 2">
            <a:extLst>
              <a:ext uri="{FF2B5EF4-FFF2-40B4-BE49-F238E27FC236}">
                <a16:creationId xmlns:a16="http://schemas.microsoft.com/office/drawing/2014/main" id="{FCCA64AF-6A54-4B1A-0C68-D6D0F069520B}"/>
              </a:ext>
            </a:extLst>
          </p:cNvPr>
          <p:cNvSpPr>
            <a:spLocks noGrp="1"/>
          </p:cNvSpPr>
          <p:nvPr>
            <p:ph idx="1"/>
          </p:nvPr>
        </p:nvSpPr>
        <p:spPr/>
        <p:txBody>
          <a:bodyPr/>
          <a:lstStyle/>
          <a:p>
            <a:pPr>
              <a:lnSpc>
                <a:spcPct val="200000"/>
              </a:lnSpc>
            </a:pPr>
            <a:r>
              <a:rPr lang="en-US" dirty="0"/>
              <a:t>Clean, transform, and prepare the dataset from Data.gov</a:t>
            </a:r>
          </a:p>
          <a:p>
            <a:pPr>
              <a:lnSpc>
                <a:spcPct val="200000"/>
              </a:lnSpc>
            </a:pPr>
            <a:r>
              <a:rPr lang="en-US" dirty="0"/>
              <a:t>Create 4 interactive dashboards in Tableau</a:t>
            </a:r>
          </a:p>
          <a:p>
            <a:pPr>
              <a:lnSpc>
                <a:spcPct val="200000"/>
              </a:lnSpc>
            </a:pPr>
            <a:r>
              <a:rPr lang="en-US" dirty="0"/>
              <a:t>Build a narrative-driven Tableau Story</a:t>
            </a:r>
          </a:p>
          <a:p>
            <a:pPr>
              <a:lnSpc>
                <a:spcPct val="200000"/>
              </a:lnSpc>
            </a:pPr>
            <a:r>
              <a:rPr lang="en-US" dirty="0"/>
              <a:t>Provide business insights for transportation, planning &amp; corporate strategy</a:t>
            </a:r>
          </a:p>
        </p:txBody>
      </p:sp>
    </p:spTree>
    <p:extLst>
      <p:ext uri="{BB962C8B-B14F-4D97-AF65-F5344CB8AC3E}">
        <p14:creationId xmlns:p14="http://schemas.microsoft.com/office/powerpoint/2010/main" val="3507751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F247D-5789-16CE-D653-27530247C6C4}"/>
              </a:ext>
            </a:extLst>
          </p:cNvPr>
          <p:cNvSpPr>
            <a:spLocks noGrp="1"/>
          </p:cNvSpPr>
          <p:nvPr>
            <p:ph type="title"/>
          </p:nvPr>
        </p:nvSpPr>
        <p:spPr/>
        <p:txBody>
          <a:bodyPr/>
          <a:lstStyle/>
          <a:p>
            <a:r>
              <a:rPr lang="en-US" dirty="0"/>
              <a:t>Dataset Summary</a:t>
            </a:r>
          </a:p>
        </p:txBody>
      </p:sp>
      <p:sp>
        <p:nvSpPr>
          <p:cNvPr id="3" name="Content Placeholder 2">
            <a:extLst>
              <a:ext uri="{FF2B5EF4-FFF2-40B4-BE49-F238E27FC236}">
                <a16:creationId xmlns:a16="http://schemas.microsoft.com/office/drawing/2014/main" id="{C1CEBCE8-EF42-2F04-B70E-C02CA0BB6584}"/>
              </a:ext>
            </a:extLst>
          </p:cNvPr>
          <p:cNvSpPr>
            <a:spLocks noGrp="1"/>
          </p:cNvSpPr>
          <p:nvPr>
            <p:ph idx="1"/>
          </p:nvPr>
        </p:nvSpPr>
        <p:spPr/>
        <p:txBody>
          <a:bodyPr/>
          <a:lstStyle/>
          <a:p>
            <a:pPr marL="0" indent="0">
              <a:buNone/>
            </a:pPr>
            <a:r>
              <a:rPr lang="en-US" dirty="0"/>
              <a:t>U.S. railroad dataset with </a:t>
            </a:r>
            <a:r>
              <a:rPr lang="en-US" b="1" dirty="0"/>
              <a:t>390,000+ records</a:t>
            </a:r>
          </a:p>
          <a:p>
            <a:pPr marL="0" indent="0">
              <a:buNone/>
            </a:pPr>
            <a:r>
              <a:rPr lang="en-US" b="1" dirty="0"/>
              <a:t>Includes:</a:t>
            </a:r>
          </a:p>
          <a:p>
            <a:r>
              <a:rPr lang="en-US" dirty="0"/>
              <a:t>Train miles (freight, passenger, switching)</a:t>
            </a:r>
          </a:p>
          <a:p>
            <a:r>
              <a:rPr lang="en-US" dirty="0"/>
              <a:t>Employee man-hours</a:t>
            </a:r>
          </a:p>
          <a:p>
            <a:r>
              <a:rPr lang="en-US" dirty="0"/>
              <a:t>State &amp; county</a:t>
            </a:r>
          </a:p>
          <a:p>
            <a:r>
              <a:rPr lang="en-US" dirty="0"/>
              <a:t>Railroad class &amp; type</a:t>
            </a:r>
          </a:p>
          <a:p>
            <a:r>
              <a:rPr lang="en-US" dirty="0"/>
              <a:t>Parent company</a:t>
            </a:r>
          </a:p>
          <a:p>
            <a:r>
              <a:rPr lang="en-US" dirty="0"/>
              <a:t>Year &amp; reporting period</a:t>
            </a:r>
          </a:p>
          <a:p>
            <a:pPr marL="0" indent="0">
              <a:buNone/>
            </a:pPr>
            <a:r>
              <a:rPr lang="en-US" dirty="0"/>
              <a:t>Required significant data cleaning &amp; transformation</a:t>
            </a:r>
          </a:p>
          <a:p>
            <a:endParaRPr lang="en-US" dirty="0"/>
          </a:p>
        </p:txBody>
      </p:sp>
    </p:spTree>
    <p:extLst>
      <p:ext uri="{BB962C8B-B14F-4D97-AF65-F5344CB8AC3E}">
        <p14:creationId xmlns:p14="http://schemas.microsoft.com/office/powerpoint/2010/main" val="2512424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974BE-B88F-17A9-DDCB-BCF6E51513C1}"/>
              </a:ext>
            </a:extLst>
          </p:cNvPr>
          <p:cNvSpPr>
            <a:spLocks noGrp="1"/>
          </p:cNvSpPr>
          <p:nvPr>
            <p:ph type="title"/>
          </p:nvPr>
        </p:nvSpPr>
        <p:spPr/>
        <p:txBody>
          <a:bodyPr/>
          <a:lstStyle/>
          <a:p>
            <a:r>
              <a:rPr lang="en-US" dirty="0"/>
              <a:t>Data Preparation</a:t>
            </a:r>
          </a:p>
        </p:txBody>
      </p:sp>
      <p:sp>
        <p:nvSpPr>
          <p:cNvPr id="3" name="Content Placeholder 2">
            <a:extLst>
              <a:ext uri="{FF2B5EF4-FFF2-40B4-BE49-F238E27FC236}">
                <a16:creationId xmlns:a16="http://schemas.microsoft.com/office/drawing/2014/main" id="{3874C06E-F6AE-923F-26B9-94B25488C019}"/>
              </a:ext>
            </a:extLst>
          </p:cNvPr>
          <p:cNvSpPr>
            <a:spLocks noGrp="1"/>
          </p:cNvSpPr>
          <p:nvPr>
            <p:ph idx="1"/>
          </p:nvPr>
        </p:nvSpPr>
        <p:spPr/>
        <p:txBody>
          <a:bodyPr/>
          <a:lstStyle/>
          <a:p>
            <a:pPr>
              <a:lnSpc>
                <a:spcPct val="200000"/>
              </a:lnSpc>
            </a:pPr>
            <a:r>
              <a:rPr lang="en-US" b="1" dirty="0"/>
              <a:t>Missing Values:</a:t>
            </a:r>
            <a:r>
              <a:rPr lang="en-US" dirty="0"/>
              <a:t> median/mode imputation, unknown labels, remove empty rows</a:t>
            </a:r>
          </a:p>
          <a:p>
            <a:pPr>
              <a:lnSpc>
                <a:spcPct val="200000"/>
              </a:lnSpc>
            </a:pPr>
            <a:r>
              <a:rPr lang="en-US" b="1" dirty="0"/>
              <a:t>Outlier Removal:</a:t>
            </a:r>
            <a:r>
              <a:rPr lang="en-US" dirty="0"/>
              <a:t> IQR method applied</a:t>
            </a:r>
          </a:p>
          <a:p>
            <a:pPr>
              <a:lnSpc>
                <a:spcPct val="200000"/>
              </a:lnSpc>
            </a:pPr>
            <a:r>
              <a:rPr lang="en-US" b="1" dirty="0"/>
              <a:t>Data Transformation:</a:t>
            </a:r>
            <a:r>
              <a:rPr lang="en-US" dirty="0"/>
              <a:t> converted numeric fields, standardized categories</a:t>
            </a:r>
          </a:p>
          <a:p>
            <a:pPr>
              <a:lnSpc>
                <a:spcPct val="200000"/>
              </a:lnSpc>
            </a:pPr>
            <a:r>
              <a:rPr lang="en-US" dirty="0"/>
              <a:t>Exported cleaned dataset for Tableau</a:t>
            </a:r>
          </a:p>
        </p:txBody>
      </p:sp>
    </p:spTree>
    <p:extLst>
      <p:ext uri="{BB962C8B-B14F-4D97-AF65-F5344CB8AC3E}">
        <p14:creationId xmlns:p14="http://schemas.microsoft.com/office/powerpoint/2010/main" val="3987228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F9D00-6C1E-A00F-80C6-71E39959AB89}"/>
              </a:ext>
            </a:extLst>
          </p:cNvPr>
          <p:cNvSpPr>
            <a:spLocks noGrp="1"/>
          </p:cNvSpPr>
          <p:nvPr>
            <p:ph type="title"/>
          </p:nvPr>
        </p:nvSpPr>
        <p:spPr>
          <a:xfrm>
            <a:off x="1154951" y="632298"/>
            <a:ext cx="3689423" cy="1274323"/>
          </a:xfrm>
        </p:spPr>
        <p:txBody>
          <a:bodyPr/>
          <a:lstStyle/>
          <a:p>
            <a:r>
              <a:rPr lang="en-US" sz="2800" dirty="0"/>
              <a:t>Dashboard 1: Executive Overview</a:t>
            </a:r>
          </a:p>
        </p:txBody>
      </p:sp>
      <p:pic>
        <p:nvPicPr>
          <p:cNvPr id="11" name="Content Placeholder 10" descr="A graph on a white background&#10;&#10;AI-generated content may be incorrect.">
            <a:extLst>
              <a:ext uri="{FF2B5EF4-FFF2-40B4-BE49-F238E27FC236}">
                <a16:creationId xmlns:a16="http://schemas.microsoft.com/office/drawing/2014/main" id="{8631E657-A633-AAE8-BC60-0FE22544F12F}"/>
              </a:ext>
            </a:extLst>
          </p:cNvPr>
          <p:cNvPicPr>
            <a:picLocks noGrp="1" noChangeAspect="1"/>
          </p:cNvPicPr>
          <p:nvPr>
            <p:ph idx="1"/>
          </p:nvPr>
        </p:nvPicPr>
        <p:blipFill>
          <a:blip r:embed="rId3"/>
          <a:stretch>
            <a:fillRect/>
          </a:stretch>
        </p:blipFill>
        <p:spPr>
          <a:xfrm>
            <a:off x="5027916" y="1787452"/>
            <a:ext cx="6372986" cy="3867776"/>
          </a:xfrm>
          <a:prstGeom prst="rect">
            <a:avLst/>
          </a:prstGeom>
        </p:spPr>
      </p:pic>
      <p:sp>
        <p:nvSpPr>
          <p:cNvPr id="4" name="Text Placeholder 3">
            <a:extLst>
              <a:ext uri="{FF2B5EF4-FFF2-40B4-BE49-F238E27FC236}">
                <a16:creationId xmlns:a16="http://schemas.microsoft.com/office/drawing/2014/main" id="{8C87836F-44DA-5610-7251-62E6E4C7BFB8}"/>
              </a:ext>
            </a:extLst>
          </p:cNvPr>
          <p:cNvSpPr>
            <a:spLocks noGrp="1"/>
          </p:cNvSpPr>
          <p:nvPr>
            <p:ph type="body" sz="half" idx="2"/>
          </p:nvPr>
        </p:nvSpPr>
        <p:spPr>
          <a:xfrm>
            <a:off x="1154953" y="2081720"/>
            <a:ext cx="3401063" cy="3943160"/>
          </a:xfrm>
        </p:spPr>
        <p:txBody>
          <a:bodyPr>
            <a:normAutofit fontScale="92500" lnSpcReduction="20000"/>
          </a:bodyPr>
          <a:lstStyle/>
          <a:p>
            <a:pPr marL="285750" indent="-285750">
              <a:buFont typeface="Wingdings" panose="05000000000000000000" pitchFamily="2" charset="2"/>
              <a:buChar char="Ø"/>
            </a:pPr>
            <a:r>
              <a:rPr lang="en-US" dirty="0"/>
              <a:t>KPI Cards: Total Miles, Passenger Miles, Man-Hours, Number of Railroads</a:t>
            </a:r>
          </a:p>
          <a:p>
            <a:pPr marL="285750" indent="-285750">
              <a:buFont typeface="Wingdings" panose="05000000000000000000" pitchFamily="2" charset="2"/>
              <a:buChar char="Ø"/>
            </a:pPr>
            <a:r>
              <a:rPr lang="en-US" dirty="0"/>
              <a:t>Yearly trend in total miles</a:t>
            </a:r>
          </a:p>
          <a:p>
            <a:pPr marL="285750" indent="-285750">
              <a:buFont typeface="Wingdings" panose="05000000000000000000" pitchFamily="2" charset="2"/>
              <a:buChar char="Ø"/>
            </a:pPr>
            <a:r>
              <a:rPr lang="en-US" dirty="0"/>
              <a:t>Class distribution comparison (Class 1, Class 2, Short Line)</a:t>
            </a:r>
          </a:p>
          <a:p>
            <a:pPr marL="285750" indent="-285750">
              <a:buFont typeface="Wingdings" panose="05000000000000000000" pitchFamily="2" charset="2"/>
              <a:buChar char="Ø"/>
            </a:pPr>
            <a:r>
              <a:rPr lang="en-US" dirty="0"/>
              <a:t>Reporting completeness indicator</a:t>
            </a:r>
          </a:p>
          <a:p>
            <a:pPr marL="285750" indent="-285750">
              <a:buFont typeface="Wingdings" panose="05000000000000000000" pitchFamily="2" charset="2"/>
              <a:buChar char="Ø"/>
            </a:pPr>
            <a:r>
              <a:rPr lang="en-US" dirty="0"/>
              <a:t>Shows national performance trends</a:t>
            </a:r>
          </a:p>
          <a:p>
            <a:pPr marL="285750" indent="-285750">
              <a:buFont typeface="Wingdings" panose="05000000000000000000" pitchFamily="2" charset="2"/>
              <a:buChar char="Ø"/>
            </a:pPr>
            <a:r>
              <a:rPr lang="en-US" dirty="0"/>
              <a:t>Highlights growth or decline in rail activity</a:t>
            </a:r>
          </a:p>
          <a:p>
            <a:pPr marL="285750" indent="-285750">
              <a:buFont typeface="Wingdings" panose="05000000000000000000" pitchFamily="2" charset="2"/>
              <a:buChar char="Ø"/>
            </a:pPr>
            <a:r>
              <a:rPr lang="en-US" dirty="0"/>
              <a:t>Class comparison reveals which classes dominate</a:t>
            </a:r>
          </a:p>
          <a:p>
            <a:pPr marL="285750" indent="-285750">
              <a:buFont typeface="Wingdings" panose="05000000000000000000" pitchFamily="2" charset="2"/>
              <a:buChar char="Ø"/>
            </a:pPr>
            <a:r>
              <a:rPr lang="en-US" dirty="0"/>
              <a:t>Reporting completeness ensures data reliability</a:t>
            </a:r>
          </a:p>
          <a:p>
            <a:pPr marL="285750" indent="-285750">
              <a:buFont typeface="Wingdings" panose="05000000000000000000" pitchFamily="2" charset="2"/>
              <a:buChar char="Ø"/>
            </a:pPr>
            <a:r>
              <a:rPr lang="en-US" dirty="0"/>
              <a:t>Sets context for deeper analysis in later dashboards</a:t>
            </a:r>
          </a:p>
        </p:txBody>
      </p:sp>
    </p:spTree>
    <p:extLst>
      <p:ext uri="{BB962C8B-B14F-4D97-AF65-F5344CB8AC3E}">
        <p14:creationId xmlns:p14="http://schemas.microsoft.com/office/powerpoint/2010/main" val="348089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6E84D-9B21-5882-5FA6-D2C09A44D18A}"/>
              </a:ext>
            </a:extLst>
          </p:cNvPr>
          <p:cNvSpPr>
            <a:spLocks noGrp="1"/>
          </p:cNvSpPr>
          <p:nvPr>
            <p:ph type="title"/>
          </p:nvPr>
        </p:nvSpPr>
        <p:spPr>
          <a:xfrm>
            <a:off x="1153906" y="1245140"/>
            <a:ext cx="5373353" cy="1079771"/>
          </a:xfrm>
        </p:spPr>
        <p:txBody>
          <a:bodyPr>
            <a:normAutofit fontScale="90000"/>
          </a:bodyPr>
          <a:lstStyle/>
          <a:p>
            <a:r>
              <a:rPr lang="en-US" dirty="0"/>
              <a:t>Dashboard 2: Operational Performance</a:t>
            </a:r>
          </a:p>
        </p:txBody>
      </p:sp>
      <p:sp>
        <p:nvSpPr>
          <p:cNvPr id="4" name="Text Placeholder 3">
            <a:extLst>
              <a:ext uri="{FF2B5EF4-FFF2-40B4-BE49-F238E27FC236}">
                <a16:creationId xmlns:a16="http://schemas.microsoft.com/office/drawing/2014/main" id="{022DCA33-ECBB-5CEC-AFC3-620BE277EABA}"/>
              </a:ext>
            </a:extLst>
          </p:cNvPr>
          <p:cNvSpPr>
            <a:spLocks noGrp="1"/>
          </p:cNvSpPr>
          <p:nvPr>
            <p:ph type="body" sz="half" idx="2"/>
          </p:nvPr>
        </p:nvSpPr>
        <p:spPr>
          <a:xfrm>
            <a:off x="1154954" y="2616740"/>
            <a:ext cx="3562961" cy="3317132"/>
          </a:xfrm>
        </p:spPr>
        <p:txBody>
          <a:bodyPr>
            <a:normAutofit fontScale="92500" lnSpcReduction="20000"/>
          </a:bodyPr>
          <a:lstStyle/>
          <a:p>
            <a:pPr marL="285750" indent="-285750">
              <a:buFont typeface="Wingdings" panose="05000000000000000000" pitchFamily="2" charset="2"/>
              <a:buChar char="Ø"/>
            </a:pPr>
            <a:r>
              <a:rPr lang="en-US" sz="2000" dirty="0"/>
              <a:t>Identifies labor-intensive railroads</a:t>
            </a:r>
          </a:p>
          <a:p>
            <a:pPr marL="285750" indent="-285750">
              <a:buFont typeface="Wingdings" panose="05000000000000000000" pitchFamily="2" charset="2"/>
              <a:buChar char="Ø"/>
            </a:pPr>
            <a:r>
              <a:rPr lang="en-US" sz="2000" dirty="0"/>
              <a:t>Shows difference between freight-heavy vs passenger-heavy operators</a:t>
            </a:r>
          </a:p>
          <a:p>
            <a:pPr marL="285750" indent="-285750">
              <a:buFont typeface="Wingdings" panose="05000000000000000000" pitchFamily="2" charset="2"/>
              <a:buChar char="Ø"/>
            </a:pPr>
            <a:r>
              <a:rPr lang="en-US" sz="2000" dirty="0"/>
              <a:t>Parent company dominance indicates corporate influence</a:t>
            </a:r>
          </a:p>
          <a:p>
            <a:pPr marL="285750" indent="-285750">
              <a:buFont typeface="Wingdings" panose="05000000000000000000" pitchFamily="2" charset="2"/>
              <a:buChar char="Ø"/>
            </a:pPr>
            <a:r>
              <a:rPr lang="en-US" sz="2000" dirty="0"/>
              <a:t>Seasonal patterns support resource planning &amp; optimization</a:t>
            </a:r>
          </a:p>
          <a:p>
            <a:pPr marL="285750" indent="-285750">
              <a:buFont typeface="Wingdings" panose="05000000000000000000" pitchFamily="2" charset="2"/>
              <a:buChar char="Ø"/>
            </a:pPr>
            <a:endParaRPr lang="en-US" sz="2000" dirty="0"/>
          </a:p>
        </p:txBody>
      </p:sp>
      <p:pic>
        <p:nvPicPr>
          <p:cNvPr id="13" name="Picture 12" descr="A screenshot of a computer&#10;&#10;AI-generated content may be incorrect.">
            <a:extLst>
              <a:ext uri="{FF2B5EF4-FFF2-40B4-BE49-F238E27FC236}">
                <a16:creationId xmlns:a16="http://schemas.microsoft.com/office/drawing/2014/main" id="{F4F01043-5B09-646C-260A-2E92FAA99A40}"/>
              </a:ext>
            </a:extLst>
          </p:cNvPr>
          <p:cNvPicPr>
            <a:picLocks noChangeAspect="1"/>
          </p:cNvPicPr>
          <p:nvPr/>
        </p:nvPicPr>
        <p:blipFill>
          <a:blip r:embed="rId3"/>
          <a:stretch>
            <a:fillRect/>
          </a:stretch>
        </p:blipFill>
        <p:spPr>
          <a:xfrm>
            <a:off x="5125723" y="2415745"/>
            <a:ext cx="6828817" cy="3338166"/>
          </a:xfrm>
          <a:prstGeom prst="rect">
            <a:avLst/>
          </a:prstGeom>
        </p:spPr>
      </p:pic>
    </p:spTree>
    <p:extLst>
      <p:ext uri="{BB962C8B-B14F-4D97-AF65-F5344CB8AC3E}">
        <p14:creationId xmlns:p14="http://schemas.microsoft.com/office/powerpoint/2010/main" val="2966289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AC4FA-C8A5-DC1D-7E9C-052D51FF4E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D61AB2-EB74-507B-5F92-19CD67F1940C}"/>
              </a:ext>
            </a:extLst>
          </p:cNvPr>
          <p:cNvSpPr>
            <a:spLocks noGrp="1"/>
          </p:cNvSpPr>
          <p:nvPr>
            <p:ph type="title"/>
          </p:nvPr>
        </p:nvSpPr>
        <p:spPr>
          <a:xfrm>
            <a:off x="1153906" y="1245140"/>
            <a:ext cx="5373353" cy="1079771"/>
          </a:xfrm>
        </p:spPr>
        <p:txBody>
          <a:bodyPr>
            <a:normAutofit fontScale="90000"/>
          </a:bodyPr>
          <a:lstStyle/>
          <a:p>
            <a:r>
              <a:rPr lang="en-US" dirty="0"/>
              <a:t>Dashboard 3: Geographic Operations</a:t>
            </a:r>
          </a:p>
        </p:txBody>
      </p:sp>
      <p:sp>
        <p:nvSpPr>
          <p:cNvPr id="4" name="Text Placeholder 3">
            <a:extLst>
              <a:ext uri="{FF2B5EF4-FFF2-40B4-BE49-F238E27FC236}">
                <a16:creationId xmlns:a16="http://schemas.microsoft.com/office/drawing/2014/main" id="{1C87A22B-CB65-B78C-843F-62F6F89C3971}"/>
              </a:ext>
            </a:extLst>
          </p:cNvPr>
          <p:cNvSpPr>
            <a:spLocks noGrp="1"/>
          </p:cNvSpPr>
          <p:nvPr>
            <p:ph type="body" sz="half" idx="2"/>
          </p:nvPr>
        </p:nvSpPr>
        <p:spPr>
          <a:xfrm>
            <a:off x="1154954" y="2616740"/>
            <a:ext cx="3562961" cy="3317132"/>
          </a:xfrm>
        </p:spPr>
        <p:txBody>
          <a:bodyPr>
            <a:normAutofit fontScale="92500" lnSpcReduction="10000"/>
          </a:bodyPr>
          <a:lstStyle/>
          <a:p>
            <a:pPr marL="285750" indent="-285750">
              <a:buFont typeface="Wingdings" panose="05000000000000000000" pitchFamily="2" charset="2"/>
              <a:buChar char="Ø"/>
            </a:pPr>
            <a:r>
              <a:rPr lang="en-US" sz="2000" dirty="0"/>
              <a:t>Identifies high-activity hotspots (TX, IL, CA, PA)</a:t>
            </a:r>
          </a:p>
          <a:p>
            <a:pPr marL="285750" indent="-285750">
              <a:buFont typeface="Wingdings" panose="05000000000000000000" pitchFamily="2" charset="2"/>
              <a:buChar char="Ø"/>
            </a:pPr>
            <a:r>
              <a:rPr lang="en-US" sz="2000" dirty="0"/>
              <a:t>Supports infrastructure and funding decisions</a:t>
            </a:r>
          </a:p>
          <a:p>
            <a:pPr marL="285750" indent="-285750">
              <a:buFont typeface="Wingdings" panose="05000000000000000000" pitchFamily="2" charset="2"/>
              <a:buChar char="Ø"/>
            </a:pPr>
            <a:r>
              <a:rPr lang="en-US" sz="2000" dirty="0"/>
              <a:t>Shows operational nature per state (freight, passenger, mixed)</a:t>
            </a:r>
          </a:p>
          <a:p>
            <a:pPr marL="285750" indent="-285750">
              <a:buFont typeface="Wingdings" panose="05000000000000000000" pitchFamily="2" charset="2"/>
              <a:buChar char="Ø"/>
            </a:pPr>
            <a:r>
              <a:rPr lang="en-US" sz="2000" dirty="0"/>
              <a:t>Year-over-year trends show states with growing or declining activity</a:t>
            </a:r>
          </a:p>
        </p:txBody>
      </p:sp>
      <p:pic>
        <p:nvPicPr>
          <p:cNvPr id="6" name="Picture 5" descr="A map of the united states&#10;&#10;AI-generated content may be incorrect.">
            <a:extLst>
              <a:ext uri="{FF2B5EF4-FFF2-40B4-BE49-F238E27FC236}">
                <a16:creationId xmlns:a16="http://schemas.microsoft.com/office/drawing/2014/main" id="{37ADC489-E360-9EBA-4EAE-2D023ABE3F9C}"/>
              </a:ext>
            </a:extLst>
          </p:cNvPr>
          <p:cNvPicPr>
            <a:picLocks noChangeAspect="1"/>
          </p:cNvPicPr>
          <p:nvPr/>
        </p:nvPicPr>
        <p:blipFill>
          <a:blip r:embed="rId3"/>
          <a:stretch>
            <a:fillRect/>
          </a:stretch>
        </p:blipFill>
        <p:spPr>
          <a:xfrm>
            <a:off x="4941651" y="2554514"/>
            <a:ext cx="6867728" cy="3379358"/>
          </a:xfrm>
          <a:prstGeom prst="rect">
            <a:avLst/>
          </a:prstGeom>
        </p:spPr>
      </p:pic>
    </p:spTree>
    <p:extLst>
      <p:ext uri="{BB962C8B-B14F-4D97-AF65-F5344CB8AC3E}">
        <p14:creationId xmlns:p14="http://schemas.microsoft.com/office/powerpoint/2010/main" val="2850463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0871B-4EB4-F8F7-6286-82EC7793E2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75EB58-01E6-E40F-E598-12606924755A}"/>
              </a:ext>
            </a:extLst>
          </p:cNvPr>
          <p:cNvSpPr>
            <a:spLocks noGrp="1"/>
          </p:cNvSpPr>
          <p:nvPr>
            <p:ph type="title"/>
          </p:nvPr>
        </p:nvSpPr>
        <p:spPr>
          <a:xfrm>
            <a:off x="1153906" y="1245140"/>
            <a:ext cx="5373353" cy="1079771"/>
          </a:xfrm>
        </p:spPr>
        <p:txBody>
          <a:bodyPr>
            <a:normAutofit fontScale="90000"/>
          </a:bodyPr>
          <a:lstStyle/>
          <a:p>
            <a:r>
              <a:rPr lang="en-US" dirty="0"/>
              <a:t>Dashboard 4: Parent Company &amp; Corporate</a:t>
            </a:r>
          </a:p>
        </p:txBody>
      </p:sp>
      <p:sp>
        <p:nvSpPr>
          <p:cNvPr id="4" name="Text Placeholder 3">
            <a:extLst>
              <a:ext uri="{FF2B5EF4-FFF2-40B4-BE49-F238E27FC236}">
                <a16:creationId xmlns:a16="http://schemas.microsoft.com/office/drawing/2014/main" id="{48010EAC-377C-A301-A353-F5587E720ABA}"/>
              </a:ext>
            </a:extLst>
          </p:cNvPr>
          <p:cNvSpPr>
            <a:spLocks noGrp="1"/>
          </p:cNvSpPr>
          <p:nvPr>
            <p:ph type="body" sz="half" idx="2"/>
          </p:nvPr>
        </p:nvSpPr>
        <p:spPr>
          <a:xfrm>
            <a:off x="1154954" y="2616740"/>
            <a:ext cx="3562961" cy="3317132"/>
          </a:xfrm>
        </p:spPr>
        <p:txBody>
          <a:bodyPr>
            <a:normAutofit fontScale="92500" lnSpcReduction="10000"/>
          </a:bodyPr>
          <a:lstStyle/>
          <a:p>
            <a:pPr marL="285750" indent="-285750">
              <a:buFont typeface="Wingdings" panose="05000000000000000000" pitchFamily="2" charset="2"/>
              <a:buChar char="Ø"/>
            </a:pPr>
            <a:r>
              <a:rPr lang="en-US" sz="2000" dirty="0"/>
              <a:t>Shows which corporations dominate U.S. rail operations</a:t>
            </a:r>
          </a:p>
          <a:p>
            <a:pPr marL="285750" indent="-285750">
              <a:buFont typeface="Wingdings" panose="05000000000000000000" pitchFamily="2" charset="2"/>
              <a:buChar char="Ø"/>
            </a:pPr>
            <a:r>
              <a:rPr lang="en-US" sz="2000" dirty="0"/>
              <a:t>Identifies subsidiaries with high labor requirements</a:t>
            </a:r>
          </a:p>
          <a:p>
            <a:pPr marL="285750" indent="-285750">
              <a:buFont typeface="Wingdings" panose="05000000000000000000" pitchFamily="2" charset="2"/>
              <a:buChar char="Ø"/>
            </a:pPr>
            <a:r>
              <a:rPr lang="en-US" sz="2000" dirty="0"/>
              <a:t>Class distribution helps strategic comparison</a:t>
            </a:r>
          </a:p>
          <a:p>
            <a:pPr marL="285750" indent="-285750">
              <a:buFont typeface="Wingdings" panose="05000000000000000000" pitchFamily="2" charset="2"/>
              <a:buChar char="Ø"/>
            </a:pPr>
            <a:r>
              <a:rPr lang="en-US" sz="2000" dirty="0"/>
              <a:t>Supports benchmarking, investment decisions, and regulatory oversight</a:t>
            </a:r>
          </a:p>
        </p:txBody>
      </p:sp>
      <p:pic>
        <p:nvPicPr>
          <p:cNvPr id="7" name="Picture 6" descr="A screenshot of a computer&#10;&#10;AI-generated content may be incorrect.">
            <a:extLst>
              <a:ext uri="{FF2B5EF4-FFF2-40B4-BE49-F238E27FC236}">
                <a16:creationId xmlns:a16="http://schemas.microsoft.com/office/drawing/2014/main" id="{056F9BF5-3F79-1F73-FE60-E78F58384F56}"/>
              </a:ext>
            </a:extLst>
          </p:cNvPr>
          <p:cNvPicPr>
            <a:picLocks noChangeAspect="1"/>
          </p:cNvPicPr>
          <p:nvPr/>
        </p:nvPicPr>
        <p:blipFill>
          <a:blip r:embed="rId3"/>
          <a:stretch>
            <a:fillRect/>
          </a:stretch>
        </p:blipFill>
        <p:spPr>
          <a:xfrm>
            <a:off x="5143472" y="2639687"/>
            <a:ext cx="6601056" cy="3242058"/>
          </a:xfrm>
          <a:prstGeom prst="rect">
            <a:avLst/>
          </a:prstGeom>
        </p:spPr>
      </p:pic>
    </p:spTree>
    <p:extLst>
      <p:ext uri="{BB962C8B-B14F-4D97-AF65-F5344CB8AC3E}">
        <p14:creationId xmlns:p14="http://schemas.microsoft.com/office/powerpoint/2010/main" val="1522011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C531E-93B0-78B2-57A0-CD58A1AF3701}"/>
              </a:ext>
            </a:extLst>
          </p:cNvPr>
          <p:cNvSpPr>
            <a:spLocks noGrp="1"/>
          </p:cNvSpPr>
          <p:nvPr>
            <p:ph type="title"/>
          </p:nvPr>
        </p:nvSpPr>
        <p:spPr>
          <a:xfrm>
            <a:off x="933855" y="1447800"/>
            <a:ext cx="3622162" cy="1003570"/>
          </a:xfrm>
        </p:spPr>
        <p:txBody>
          <a:bodyPr/>
          <a:lstStyle/>
          <a:p>
            <a:r>
              <a:rPr lang="en-US" sz="3200" dirty="0"/>
              <a:t>Purpose of the Story</a:t>
            </a:r>
          </a:p>
        </p:txBody>
      </p:sp>
      <p:pic>
        <p:nvPicPr>
          <p:cNvPr id="6" name="Content Placeholder 5" descr="A screenshot of a computer&#10;&#10;AI-generated content may be incorrect.">
            <a:extLst>
              <a:ext uri="{FF2B5EF4-FFF2-40B4-BE49-F238E27FC236}">
                <a16:creationId xmlns:a16="http://schemas.microsoft.com/office/drawing/2014/main" id="{C29F2F65-E157-3AE3-1CA4-1374E1C1BD6D}"/>
              </a:ext>
            </a:extLst>
          </p:cNvPr>
          <p:cNvPicPr>
            <a:picLocks noGrp="1" noChangeAspect="1"/>
          </p:cNvPicPr>
          <p:nvPr>
            <p:ph idx="1"/>
          </p:nvPr>
        </p:nvPicPr>
        <p:blipFill>
          <a:blip r:embed="rId3"/>
          <a:stretch>
            <a:fillRect/>
          </a:stretch>
        </p:blipFill>
        <p:spPr>
          <a:xfrm>
            <a:off x="4781180" y="1447800"/>
            <a:ext cx="7120497" cy="4577079"/>
          </a:xfrm>
          <a:prstGeom prst="rect">
            <a:avLst/>
          </a:prstGeom>
        </p:spPr>
      </p:pic>
      <p:sp>
        <p:nvSpPr>
          <p:cNvPr id="4" name="Text Placeholder 3">
            <a:extLst>
              <a:ext uri="{FF2B5EF4-FFF2-40B4-BE49-F238E27FC236}">
                <a16:creationId xmlns:a16="http://schemas.microsoft.com/office/drawing/2014/main" id="{169D78E7-2915-9AE0-F948-3A041BF9A112}"/>
              </a:ext>
            </a:extLst>
          </p:cNvPr>
          <p:cNvSpPr>
            <a:spLocks noGrp="1"/>
          </p:cNvSpPr>
          <p:nvPr>
            <p:ph type="body" sz="half" idx="2"/>
          </p:nvPr>
        </p:nvSpPr>
        <p:spPr>
          <a:xfrm>
            <a:off x="933855" y="2636196"/>
            <a:ext cx="3622161" cy="3388683"/>
          </a:xfrm>
        </p:spPr>
        <p:txBody>
          <a:bodyPr>
            <a:normAutofit/>
          </a:bodyPr>
          <a:lstStyle/>
          <a:p>
            <a:pPr marL="285750" indent="-285750">
              <a:buFont typeface="Wingdings" panose="05000000000000000000" pitchFamily="2" charset="2"/>
              <a:buChar char="Ø"/>
            </a:pPr>
            <a:r>
              <a:rPr lang="en-US" sz="1800" dirty="0"/>
              <a:t>Guides users through insights in a clear, narrative order</a:t>
            </a:r>
          </a:p>
          <a:p>
            <a:pPr marL="285750" indent="-285750">
              <a:buFont typeface="Wingdings" panose="05000000000000000000" pitchFamily="2" charset="2"/>
              <a:buChar char="Ø"/>
            </a:pPr>
            <a:r>
              <a:rPr lang="en-US" sz="1800" dirty="0"/>
              <a:t>Improves understanding for non-technical stakeholders</a:t>
            </a:r>
          </a:p>
          <a:p>
            <a:pPr marL="285750" indent="-285750">
              <a:buFont typeface="Wingdings" panose="05000000000000000000" pitchFamily="2" charset="2"/>
              <a:buChar char="Ø"/>
            </a:pPr>
            <a:r>
              <a:rPr lang="en-US" sz="1800" dirty="0"/>
              <a:t>Makes analysis actionable for decision-makers</a:t>
            </a:r>
          </a:p>
          <a:p>
            <a:pPr marL="285750" indent="-285750">
              <a:buFont typeface="Wingdings" panose="05000000000000000000" pitchFamily="2" charset="2"/>
              <a:buChar char="Ø"/>
            </a:pPr>
            <a:r>
              <a:rPr lang="en-US" sz="1800" dirty="0"/>
              <a:t>Enhances communication with business users</a:t>
            </a:r>
          </a:p>
          <a:p>
            <a:pPr marL="285750" indent="-285750">
              <a:buFont typeface="Wingdings" panose="05000000000000000000" pitchFamily="2" charset="2"/>
              <a:buChar char="Ø"/>
            </a:pPr>
            <a:endParaRPr lang="en-US" sz="1800" dirty="0"/>
          </a:p>
        </p:txBody>
      </p:sp>
    </p:spTree>
    <p:extLst>
      <p:ext uri="{BB962C8B-B14F-4D97-AF65-F5344CB8AC3E}">
        <p14:creationId xmlns:p14="http://schemas.microsoft.com/office/powerpoint/2010/main" val="2190853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BB97B-4ECC-296A-9DA0-B71154DB9514}"/>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0FECAB2E-2055-6FE6-F843-F75BDAF1FDCF}"/>
              </a:ext>
            </a:extLst>
          </p:cNvPr>
          <p:cNvSpPr>
            <a:spLocks noGrp="1"/>
          </p:cNvSpPr>
          <p:nvPr>
            <p:ph idx="1"/>
          </p:nvPr>
        </p:nvSpPr>
        <p:spPr>
          <a:xfrm>
            <a:off x="1103312" y="1853248"/>
            <a:ext cx="8946541" cy="4395151"/>
          </a:xfrm>
        </p:spPr>
        <p:txBody>
          <a:bodyPr>
            <a:normAutofit lnSpcReduction="10000"/>
          </a:bodyPr>
          <a:lstStyle/>
          <a:p>
            <a:pPr marL="0" indent="0">
              <a:buNone/>
            </a:pPr>
            <a:r>
              <a:rPr lang="en-US" sz="2400" dirty="0"/>
              <a:t>Tableau dashboards provide insights across national, operational, geographic, and corporate levels</a:t>
            </a:r>
          </a:p>
          <a:p>
            <a:pPr marL="0" indent="0">
              <a:buNone/>
            </a:pPr>
            <a:r>
              <a:rPr lang="en-US" sz="2400" dirty="0"/>
              <a:t>Help identify:</a:t>
            </a:r>
          </a:p>
          <a:p>
            <a:r>
              <a:rPr lang="en-US" sz="2400" dirty="0"/>
              <a:t>High-activity states</a:t>
            </a:r>
          </a:p>
          <a:p>
            <a:r>
              <a:rPr lang="en-US" sz="2400" dirty="0"/>
              <a:t>Corporate dominance</a:t>
            </a:r>
          </a:p>
          <a:p>
            <a:r>
              <a:rPr lang="en-US" sz="2400" dirty="0"/>
              <a:t>Labor-intensive railroads</a:t>
            </a:r>
          </a:p>
          <a:p>
            <a:r>
              <a:rPr lang="en-US" sz="2400" dirty="0"/>
              <a:t>Seasonal trends</a:t>
            </a:r>
          </a:p>
          <a:p>
            <a:r>
              <a:rPr lang="en-US" sz="2400" dirty="0"/>
              <a:t>Data reliability</a:t>
            </a:r>
          </a:p>
          <a:p>
            <a:pPr marL="0" indent="0">
              <a:buNone/>
            </a:pPr>
            <a:r>
              <a:rPr lang="en-US" sz="2400" dirty="0"/>
              <a:t>Supports strategic planning, safety management, and infrastructure decisions</a:t>
            </a:r>
          </a:p>
          <a:p>
            <a:endParaRPr lang="en-US" sz="2400" dirty="0"/>
          </a:p>
        </p:txBody>
      </p:sp>
    </p:spTree>
    <p:extLst>
      <p:ext uri="{BB962C8B-B14F-4D97-AF65-F5344CB8AC3E}">
        <p14:creationId xmlns:p14="http://schemas.microsoft.com/office/powerpoint/2010/main" val="8868797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24</TotalTime>
  <Words>944</Words>
  <Application>Microsoft Office PowerPoint</Application>
  <PresentationFormat>Widescreen</PresentationFormat>
  <Paragraphs>81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Century Gothic</vt:lpstr>
      <vt:lpstr>Wingdings</vt:lpstr>
      <vt:lpstr>Wingdings 3</vt:lpstr>
      <vt:lpstr>Ion</vt:lpstr>
      <vt:lpstr>Data Visualization and Storytelling Using Tableau Railroad Operations Analytics Dashboard Suite</vt:lpstr>
      <vt:lpstr>Task Overview</vt:lpstr>
      <vt:lpstr>Dataset Summary</vt:lpstr>
      <vt:lpstr>Data Preparation</vt:lpstr>
      <vt:lpstr>Dashboard 1: Executive Overview</vt:lpstr>
      <vt:lpstr>Dashboard 2: Operational Performance</vt:lpstr>
      <vt:lpstr>Dashboard 3: Geographic Operations</vt:lpstr>
      <vt:lpstr>Dashboard 4: Parent Company &amp; Corporate</vt:lpstr>
      <vt:lpstr>Purpose of the Story</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Maaz Tariq</dc:creator>
  <cp:lastModifiedBy>Maaz Tariq</cp:lastModifiedBy>
  <cp:revision>11</cp:revision>
  <dcterms:created xsi:type="dcterms:W3CDTF">2025-12-11T23:02:43Z</dcterms:created>
  <dcterms:modified xsi:type="dcterms:W3CDTF">2025-12-15T16:10:49Z</dcterms:modified>
</cp:coreProperties>
</file>